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8" r:id="rId9"/>
    <p:sldId id="267" r:id="rId10"/>
    <p:sldId id="264" r:id="rId11"/>
    <p:sldId id="265" r:id="rId12"/>
    <p:sldId id="271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59" r:id="rId21"/>
  </p:sldIdLst>
  <p:sldSz cx="12192000" cy="6858000"/>
  <p:notesSz cx="6858000" cy="9144000"/>
  <p:embeddedFontLst>
    <p:embeddedFont>
      <p:font typeface="Lato Black" panose="020F0502020204030203" pitchFamily="34" charset="0"/>
      <p:bold r:id="rId23"/>
      <p:boldItalic r:id="rId24"/>
    </p:embeddedFont>
    <p:embeddedFont>
      <p:font typeface="Libre Baskerville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DD3C8A4-36ED-4957-9080-0DAC152CD2EF}">
          <p14:sldIdLst>
            <p14:sldId id="256"/>
            <p14:sldId id="257"/>
            <p14:sldId id="258"/>
            <p14:sldId id="260"/>
            <p14:sldId id="261"/>
            <p14:sldId id="262"/>
            <p14:sldId id="263"/>
            <p14:sldId id="268"/>
            <p14:sldId id="267"/>
            <p14:sldId id="264"/>
            <p14:sldId id="265"/>
            <p14:sldId id="271"/>
            <p14:sldId id="269"/>
            <p14:sldId id="270"/>
            <p14:sldId id="272"/>
            <p14:sldId id="273"/>
            <p14:sldId id="274"/>
            <p14:sldId id="275"/>
            <p14:sldId id="276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asadullah-syed-b4545133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sadullah244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C3E633-F191-E235-2506-CF67A6E47345}"/>
              </a:ext>
            </a:extLst>
          </p:cNvPr>
          <p:cNvSpPr txBox="1"/>
          <p:nvPr/>
        </p:nvSpPr>
        <p:spPr>
          <a:xfrm>
            <a:off x="3641558" y="3753853"/>
            <a:ext cx="4908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Employee Management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3877FA-7278-0F5D-9441-C38F1D146D3F}"/>
              </a:ext>
            </a:extLst>
          </p:cNvPr>
          <p:cNvSpPr txBox="1"/>
          <p:nvPr/>
        </p:nvSpPr>
        <p:spPr>
          <a:xfrm>
            <a:off x="8329394" y="5275149"/>
            <a:ext cx="2996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Presented by: </a:t>
            </a:r>
            <a:r>
              <a:rPr lang="en-US" dirty="0"/>
              <a:t>Asadullah Syed</a:t>
            </a:r>
          </a:p>
          <a:p>
            <a:r>
              <a:rPr lang="en-US" b="1" dirty="0">
                <a:solidFill>
                  <a:srgbClr val="FF0000"/>
                </a:solidFill>
              </a:rPr>
              <a:t>Batch: </a:t>
            </a:r>
            <a:r>
              <a:rPr lang="en-US" dirty="0"/>
              <a:t>502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47445" y="1379382"/>
            <a:ext cx="9967629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 : B.COM(Computer Application)</a:t>
            </a:r>
            <a:endParaRPr sz="2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IN" sz="2800" u="sng" dirty="0">
                <a:solidFill>
                  <a:schemeClr val="accent1"/>
                </a:solidFill>
                <a:hlinkClick r:id="rId3"/>
              </a:rPr>
              <a:t>www.linkedin.com/in/asadullah-syed-b45451333</a:t>
            </a:r>
            <a:endParaRPr lang="en-IN" sz="2800" u="sng" dirty="0">
              <a:solidFill>
                <a:schemeClr val="accent1"/>
              </a:solidFill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800" b="1" dirty="0" err="1">
                <a:solidFill>
                  <a:schemeClr val="tx1"/>
                </a:solidFill>
              </a:rPr>
              <a:t>Github</a:t>
            </a:r>
            <a:r>
              <a:rPr lang="en-IN" sz="2800" b="1" dirty="0">
                <a:solidFill>
                  <a:schemeClr val="tx1"/>
                </a:solidFill>
              </a:rPr>
              <a:t> : </a:t>
            </a:r>
            <a:r>
              <a:rPr lang="en-IN" sz="2800" u="sng" dirty="0">
                <a:solidFill>
                  <a:schemeClr val="accent1"/>
                </a:solidFill>
                <a:hlinkClick r:id="rId4"/>
              </a:rPr>
              <a:t>https://github.com/Asadullah244</a:t>
            </a:r>
            <a:endParaRPr lang="en-IN" sz="2800" u="sng" dirty="0">
              <a:solidFill>
                <a:schemeClr val="accent1"/>
              </a:solidFill>
            </a:endParaRPr>
          </a:p>
          <a:p>
            <a:pPr marL="28575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800" b="1" dirty="0"/>
              <a:t>Joined </a:t>
            </a:r>
            <a:r>
              <a:rPr lang="en-US" sz="2800" b="1" dirty="0" err="1"/>
              <a:t>Innomatics</a:t>
            </a:r>
            <a:r>
              <a:rPr lang="en-US" sz="2800" b="1" dirty="0"/>
              <a:t> Research Labs to upskill in Data </a:t>
            </a:r>
            <a:r>
              <a:rPr lang="en-US" sz="2800" b="1" dirty="0" err="1"/>
              <a:t>Anaylsis</a:t>
            </a:r>
            <a:endParaRPr lang="en-US" sz="2800" b="1" dirty="0"/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endParaRPr lang="en-IN" sz="1600" b="1" u="sng" dirty="0">
              <a:solidFill>
                <a:schemeClr val="accent1"/>
              </a:solidFill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55993" y="57697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84880" y="383458"/>
            <a:ext cx="10039192" cy="96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 :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400" dirty="0"/>
              <a:t>• Business Problem</a:t>
            </a:r>
          </a:p>
          <a:p>
            <a:pPr marL="114300" indent="0">
              <a:buNone/>
            </a:pPr>
            <a:r>
              <a:rPr lang="en-US" sz="2400" dirty="0"/>
              <a:t>• Problem Statement</a:t>
            </a:r>
          </a:p>
          <a:p>
            <a:pPr marL="114300" indent="0">
              <a:buNone/>
            </a:pPr>
            <a:r>
              <a:rPr lang="en-US" sz="2400" dirty="0"/>
              <a:t>• Introduction</a:t>
            </a:r>
          </a:p>
          <a:p>
            <a:pPr marL="114300" indent="0">
              <a:buNone/>
            </a:pPr>
            <a:r>
              <a:rPr lang="en-US" sz="2400" dirty="0"/>
              <a:t>• Objective</a:t>
            </a:r>
          </a:p>
          <a:p>
            <a:pPr marL="114300" indent="0">
              <a:buNone/>
            </a:pPr>
            <a:r>
              <a:rPr lang="en-US" sz="2400" dirty="0"/>
              <a:t>• Table Overview</a:t>
            </a:r>
          </a:p>
          <a:p>
            <a:pPr marL="114300" indent="0">
              <a:buNone/>
            </a:pPr>
            <a:r>
              <a:rPr lang="en-US" sz="2400" dirty="0"/>
              <a:t>• ER Diagram</a:t>
            </a:r>
          </a:p>
          <a:p>
            <a:pPr marL="114300" indent="0">
              <a:buNone/>
            </a:pPr>
            <a:r>
              <a:rPr lang="en-US" sz="2400" dirty="0"/>
              <a:t>• SQL Queries &amp; Results</a:t>
            </a:r>
          </a:p>
          <a:p>
            <a:pPr marL="114300" indent="0">
              <a:buNone/>
            </a:pPr>
            <a:r>
              <a:rPr lang="en-US" sz="2400" dirty="0"/>
              <a:t>• Business Insights</a:t>
            </a:r>
          </a:p>
          <a:p>
            <a:pPr marL="114300" indent="0">
              <a:buNone/>
            </a:pPr>
            <a:r>
              <a:rPr lang="en-US" sz="2400" b="1" dirty="0"/>
              <a:t> . </a:t>
            </a:r>
            <a:r>
              <a:rPr lang="en-US" sz="2400" dirty="0"/>
              <a:t>Recommendation</a:t>
            </a:r>
          </a:p>
          <a:p>
            <a:pPr marL="114300" indent="0">
              <a:buNone/>
            </a:pPr>
            <a:r>
              <a:rPr lang="en-US" sz="2400" dirty="0"/>
              <a:t>• Conclusion</a:t>
            </a:r>
          </a:p>
          <a:p>
            <a:pPr marL="11430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51549-1B2A-319A-5C4E-561A6064C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Business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C0FED-2438-4520-6C61-5E9048CE6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Organizations face difficulties in managing employee records, payroll, leave tracking, qualifications, and departmental information using manual processes. These challenges lead to data redundancy, payroll errors, inefficient reporting, and delayed decision-making. The proposed Employee Management System provides a centralized database solution to automate employee management, payroll processing, leave tracking, and report generation, thereby improving efficiency, accuracy, and productivity.</a:t>
            </a:r>
          </a:p>
        </p:txBody>
      </p:sp>
    </p:spTree>
    <p:extLst>
      <p:ext uri="{BB962C8B-B14F-4D97-AF65-F5344CB8AC3E}">
        <p14:creationId xmlns:p14="http://schemas.microsoft.com/office/powerpoint/2010/main" val="90712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B8F35-A596-97ED-7AA1-B42803934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40B5C-4B72-F815-7118-33D029C00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Employee records are managed manually, making data handling difficult and time-consuming. </a:t>
            </a:r>
          </a:p>
          <a:p>
            <a:r>
              <a:rPr lang="en-IN" dirty="0"/>
              <a:t>Payroll processing is prone to errors due to disconnected systems and manual calculations.</a:t>
            </a:r>
          </a:p>
          <a:p>
            <a:r>
              <a:rPr lang="en-IN" dirty="0"/>
              <a:t> Tracking employee leaves and qualifications becomes challenging as the organization grows. </a:t>
            </a:r>
          </a:p>
          <a:p>
            <a:r>
              <a:rPr lang="en-IN" dirty="0"/>
              <a:t>Generating reports for management takes more time and may lead to inaccurate decision-making.</a:t>
            </a:r>
          </a:p>
          <a:p>
            <a:r>
              <a:rPr lang="en-IN" dirty="0"/>
              <a:t> A centralized Employee Management System is required to improve efficiency, accuracy, and data management.</a:t>
            </a:r>
          </a:p>
        </p:txBody>
      </p:sp>
    </p:spTree>
    <p:extLst>
      <p:ext uri="{BB962C8B-B14F-4D97-AF65-F5344CB8AC3E}">
        <p14:creationId xmlns:p14="http://schemas.microsoft.com/office/powerpoint/2010/main" val="200926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B051-97B3-16DE-8954-C2DBAB951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B2696-48AA-8076-62B7-8D3BDD8EF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3200" dirty="0"/>
              <a:t>The </a:t>
            </a:r>
            <a:r>
              <a:rPr lang="en-IN" sz="3200" b="1" dirty="0"/>
              <a:t>Employee Management System </a:t>
            </a:r>
            <a:r>
              <a:rPr lang="en-IN" sz="3200" dirty="0"/>
              <a:t>is a database-driven solution designed to efficiently manage employee information, job departments, payroll, qualifications, and leave records within an organization. It centralizes workforce data into a single system, reducing manual effort and improving data accuracy.</a:t>
            </a:r>
          </a:p>
        </p:txBody>
      </p:sp>
    </p:spTree>
    <p:extLst>
      <p:ext uri="{BB962C8B-B14F-4D97-AF65-F5344CB8AC3E}">
        <p14:creationId xmlns:p14="http://schemas.microsoft.com/office/powerpoint/2010/main" val="910449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79EB8-DDC7-FE55-CEA3-2AEE8D969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E96F-DB44-7941-11EE-A4A47D53E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Objective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0426B-C9D6-E8E0-FD49-3F8BE3AD6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• Centralized employee database</a:t>
            </a:r>
          </a:p>
          <a:p>
            <a:pPr marL="114300" indent="0">
              <a:buNone/>
            </a:pPr>
            <a:r>
              <a:rPr lang="en-US" dirty="0"/>
              <a:t>• Manage qualifications and leave records</a:t>
            </a:r>
          </a:p>
          <a:p>
            <a:pPr marL="114300" indent="0">
              <a:buNone/>
            </a:pPr>
            <a:r>
              <a:rPr lang="en-US" dirty="0"/>
              <a:t>• Automate payroll</a:t>
            </a:r>
          </a:p>
          <a:p>
            <a:pPr marL="114300" indent="0">
              <a:buNone/>
            </a:pPr>
            <a:r>
              <a:rPr lang="en-US" dirty="0"/>
              <a:t>• Ensure data integrity</a:t>
            </a:r>
          </a:p>
          <a:p>
            <a:pPr marL="114300" indent="0">
              <a:buNone/>
            </a:pPr>
            <a:r>
              <a:rPr lang="en-US" dirty="0"/>
              <a:t>• Support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024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656EA-F6BE-1E90-8818-FE2FE48B7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0C5EF-39F2-5DB6-ADF0-39832EBF1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Table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2CFA6-2BA7-56DC-4BA2-56EEDE99A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Job Department </a:t>
            </a:r>
            <a:r>
              <a:rPr lang="en-US" dirty="0"/>
              <a:t>: </a:t>
            </a:r>
            <a:r>
              <a:rPr lang="en-IN" dirty="0"/>
              <a:t>Stores job roles and department details.</a:t>
            </a:r>
            <a:endParaRPr lang="en-US" dirty="0"/>
          </a:p>
          <a:p>
            <a:r>
              <a:rPr lang="en-IN" b="1" dirty="0"/>
              <a:t>Salary Bonus </a:t>
            </a:r>
            <a:r>
              <a:rPr lang="en-IN" dirty="0"/>
              <a:t>: Stores salary and bonus information.</a:t>
            </a:r>
            <a:endParaRPr lang="en-US" dirty="0"/>
          </a:p>
          <a:p>
            <a:r>
              <a:rPr lang="en-US" b="1" dirty="0"/>
              <a:t>Employee : </a:t>
            </a:r>
            <a:r>
              <a:rPr lang="en-IN" dirty="0"/>
              <a:t>Stores employee personal information</a:t>
            </a:r>
            <a:endParaRPr lang="en-US" b="1" dirty="0"/>
          </a:p>
          <a:p>
            <a:r>
              <a:rPr lang="en-US" b="1" dirty="0"/>
              <a:t>Qualification : </a:t>
            </a:r>
            <a:r>
              <a:rPr lang="en-IN" dirty="0"/>
              <a:t>Stores employee qualifications and skills.</a:t>
            </a:r>
            <a:endParaRPr lang="en-US" b="1" dirty="0"/>
          </a:p>
          <a:p>
            <a:r>
              <a:rPr lang="en-US" b="1" dirty="0"/>
              <a:t>Leaves : </a:t>
            </a:r>
            <a:r>
              <a:rPr lang="en-IN" dirty="0"/>
              <a:t>Stores employee leave records.</a:t>
            </a:r>
            <a:endParaRPr lang="en-US" b="1" dirty="0"/>
          </a:p>
          <a:p>
            <a:r>
              <a:rPr lang="en-US" b="1" dirty="0"/>
              <a:t>Payroll : </a:t>
            </a:r>
            <a:r>
              <a:rPr lang="en-IN" dirty="0"/>
              <a:t>Stores employee payroll and payment details.</a:t>
            </a:r>
            <a:endParaRPr lang="en-US" b="1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E67936-C3C3-2FC0-01B7-596EF6349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434410"/>
              </p:ext>
            </p:extLst>
          </p:nvPr>
        </p:nvGraphicFramePr>
        <p:xfrm>
          <a:off x="1428135" y="6351587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1500165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49570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B6FB5D-1C4E-B6D4-AB13-5C3A02F18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466760"/>
              </p:ext>
            </p:extLst>
          </p:nvPr>
        </p:nvGraphicFramePr>
        <p:xfrm>
          <a:off x="1231490" y="6188075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6982716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847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525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14A1A0-5FA6-7DDB-AE28-3D823FD99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93" y="1058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ER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C73251-19F0-BCB5-914A-9B021B9EB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4385"/>
            <a:ext cx="7479890" cy="46259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C795EF-96F2-E2B8-D8C1-47407AA63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239" y="1737484"/>
            <a:ext cx="5041490" cy="410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35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4C254-4D94-3887-4863-D2F8B91CF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D1100-7BAA-27C4-149D-2E6323DA1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0442"/>
            <a:ext cx="10515600" cy="760246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Which departments have the highest number of employees?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188EE-1366-5FE1-C8F7-CF45A2135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90484" y="8726904"/>
            <a:ext cx="1263316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EF62D4-4FFF-AA61-AB28-AB82CE707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66" y="1690688"/>
            <a:ext cx="8924650" cy="15377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EFCE3B-D52D-E9C6-6CBD-7EF463EA0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884" y="3629527"/>
            <a:ext cx="2803358" cy="8245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7CEA32-38FA-9EE3-CAF0-B31E75C2E749}"/>
              </a:ext>
            </a:extLst>
          </p:cNvPr>
          <p:cNvSpPr txBox="1"/>
          <p:nvPr/>
        </p:nvSpPr>
        <p:spPr>
          <a:xfrm>
            <a:off x="838200" y="3577580"/>
            <a:ext cx="53580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Business Insight: </a:t>
            </a:r>
            <a:r>
              <a:rPr lang="en-IN" sz="2000" dirty="0"/>
              <a:t>This query helps management identify the largest departments, understand workforce distribution, and plan hiring, budgeting, and resource allocation accordingly.</a:t>
            </a:r>
          </a:p>
        </p:txBody>
      </p:sp>
    </p:spTree>
    <p:extLst>
      <p:ext uri="{BB962C8B-B14F-4D97-AF65-F5344CB8AC3E}">
        <p14:creationId xmlns:p14="http://schemas.microsoft.com/office/powerpoint/2010/main" val="3326062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A8B7F-9928-4063-2063-159FCB2D2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3BECA-D416-C51A-CF8D-F3A839C58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What is the average salary per department?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70B410-D188-27B9-29D5-4CF3DB97D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3127"/>
            <a:ext cx="6924884" cy="15921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05D97A-E710-2331-8331-F5916E55D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990" y="1953127"/>
            <a:ext cx="2724008" cy="29236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AACDD7-635B-96DE-A8DA-4B873C8B1468}"/>
              </a:ext>
            </a:extLst>
          </p:cNvPr>
          <p:cNvSpPr txBox="1"/>
          <p:nvPr/>
        </p:nvSpPr>
        <p:spPr>
          <a:xfrm>
            <a:off x="933308" y="3890211"/>
            <a:ext cx="5257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Business Insight </a:t>
            </a:r>
            <a:r>
              <a:rPr lang="en-IN" sz="2400" dirty="0"/>
              <a:t>: The IT department has the highest average salary, indicating a greater investment in technical talent.</a:t>
            </a:r>
          </a:p>
        </p:txBody>
      </p:sp>
    </p:spTree>
    <p:extLst>
      <p:ext uri="{BB962C8B-B14F-4D97-AF65-F5344CB8AC3E}">
        <p14:creationId xmlns:p14="http://schemas.microsoft.com/office/powerpoint/2010/main" val="2297288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8C97-ACC3-B937-BC3C-E3DBA81C6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53DA8B-0EBA-0A36-0587-9E060BAF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7958"/>
            <a:ext cx="10515600" cy="32084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How many </a:t>
            </a:r>
            <a:r>
              <a:rPr lang="en-US" b="1" dirty="0">
                <a:solidFill>
                  <a:srgbClr val="FF0000"/>
                </a:solidFill>
              </a:rPr>
              <a:t>Different job roles in each department.</a:t>
            </a:r>
            <a:br>
              <a:rPr lang="en-US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C28688-E53D-1023-BB90-A8796D6CA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94" y="2261937"/>
            <a:ext cx="6431418" cy="13805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FDA314-C36E-6A84-AFE0-AEEBC8D18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997" y="2509696"/>
            <a:ext cx="2411781" cy="31684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A6972A-B002-2DB7-7C25-2E6C8030099E}"/>
              </a:ext>
            </a:extLst>
          </p:cNvPr>
          <p:cNvSpPr txBox="1"/>
          <p:nvPr/>
        </p:nvSpPr>
        <p:spPr>
          <a:xfrm>
            <a:off x="838200" y="3914275"/>
            <a:ext cx="37658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Business Insight: </a:t>
            </a:r>
            <a:r>
              <a:rPr lang="en-IN" sz="2400" dirty="0"/>
              <a:t>Departments with a higher number of job roles indicate a more diverse</a:t>
            </a:r>
          </a:p>
        </p:txBody>
      </p:sp>
    </p:spTree>
    <p:extLst>
      <p:ext uri="{BB962C8B-B14F-4D97-AF65-F5344CB8AC3E}">
        <p14:creationId xmlns:p14="http://schemas.microsoft.com/office/powerpoint/2010/main" val="18857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6E9063-DF22-9DB1-229F-E6D46752B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79" y="685968"/>
            <a:ext cx="11594432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How many employees have at least one qualification listed?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CDC61C-CED2-489E-A1E4-4B518D248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23" y="2261937"/>
            <a:ext cx="8078290" cy="16362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87941F-F585-8FB8-413C-E88FD5058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213" y="2978400"/>
            <a:ext cx="3094686" cy="901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CAADDD-B74B-25F9-FF86-AA39A83633B8}"/>
              </a:ext>
            </a:extLst>
          </p:cNvPr>
          <p:cNvSpPr txBox="1"/>
          <p:nvPr/>
        </p:nvSpPr>
        <p:spPr>
          <a:xfrm>
            <a:off x="577516" y="4148638"/>
            <a:ext cx="55184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Business Insight: </a:t>
            </a:r>
            <a:r>
              <a:rPr lang="en-IN" sz="2400" dirty="0"/>
              <a:t>This metric helps assess the overall qualification level of the workforce and identify skill gaps within the organization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3853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E6811-2613-0915-0506-8ED8DEB33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A44D06-E909-9900-14F3-C376631CE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58" y="926599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Average bonus per department.</a:t>
            </a:r>
            <a:br>
              <a:rPr lang="en-IN" b="1" dirty="0">
                <a:solidFill>
                  <a:srgbClr val="FF0000"/>
                </a:solidFill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567656-F499-6302-0FC7-36BC07FD6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93" y="2108224"/>
            <a:ext cx="5787207" cy="21429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0289E1-3FD9-920E-31BE-B6D8DC0C4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487" y="2252162"/>
            <a:ext cx="2891249" cy="32725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B86569-B452-CF0E-5F8D-343675F13D3C}"/>
              </a:ext>
            </a:extLst>
          </p:cNvPr>
          <p:cNvSpPr txBox="1"/>
          <p:nvPr/>
        </p:nvSpPr>
        <p:spPr>
          <a:xfrm>
            <a:off x="517358" y="4251158"/>
            <a:ext cx="49690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Business Insight: </a:t>
            </a:r>
            <a:r>
              <a:rPr lang="en-IN" sz="2400" dirty="0"/>
              <a:t>This analysis helps identify departments receiving the highest average bonuses.</a:t>
            </a:r>
          </a:p>
        </p:txBody>
      </p:sp>
    </p:spTree>
    <p:extLst>
      <p:ext uri="{BB962C8B-B14F-4D97-AF65-F5344CB8AC3E}">
        <p14:creationId xmlns:p14="http://schemas.microsoft.com/office/powerpoint/2010/main" val="2538610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92F36-D3CD-CF6D-6DBD-8952B7F94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74" y="637841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What is the total monthly payroll processed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1E90E8-23F2-A2CB-81EB-9CC56F01B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43" y="1963404"/>
            <a:ext cx="7316697" cy="21770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B3F6A4-B463-6C42-9DC0-9B41BC35E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025" y="3679018"/>
            <a:ext cx="3560785" cy="9228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FA7C74-82A3-8CEA-7354-74FA004F2388}"/>
              </a:ext>
            </a:extLst>
          </p:cNvPr>
          <p:cNvSpPr txBox="1"/>
          <p:nvPr/>
        </p:nvSpPr>
        <p:spPr>
          <a:xfrm>
            <a:off x="786063" y="4443663"/>
            <a:ext cx="56949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Business Insight: </a:t>
            </a:r>
            <a:r>
              <a:rPr lang="en-IN" sz="2400" dirty="0"/>
              <a:t>This metric shows the total salary expenditure processed by the company</a:t>
            </a:r>
          </a:p>
        </p:txBody>
      </p:sp>
    </p:spTree>
    <p:extLst>
      <p:ext uri="{BB962C8B-B14F-4D97-AF65-F5344CB8AC3E}">
        <p14:creationId xmlns:p14="http://schemas.microsoft.com/office/powerpoint/2010/main" val="3290335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5CE4E-2E2C-4001-D513-EC148706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6792D-5D3A-F3B8-FF58-D173EE715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86243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Average leave days per department.</a:t>
            </a:r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7A3C60-34E4-226F-D97D-81149C541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53658"/>
            <a:ext cx="6091990" cy="25591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26D976-C40A-CF97-FC01-6A0C6FEB8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274" y="2187993"/>
            <a:ext cx="2786438" cy="27338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EB46EC-1E0D-8109-42E6-042A2DDBF538}"/>
              </a:ext>
            </a:extLst>
          </p:cNvPr>
          <p:cNvSpPr txBox="1"/>
          <p:nvPr/>
        </p:nvSpPr>
        <p:spPr>
          <a:xfrm>
            <a:off x="786063" y="4491789"/>
            <a:ext cx="53099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Business Insight: </a:t>
            </a:r>
            <a:r>
              <a:rPr lang="en-IN" sz="2400" dirty="0"/>
              <a:t>This metric helps identify departments with higher absenteeism and evaluate employee attendance patterns</a:t>
            </a:r>
          </a:p>
        </p:txBody>
      </p:sp>
    </p:spTree>
    <p:extLst>
      <p:ext uri="{BB962C8B-B14F-4D97-AF65-F5344CB8AC3E}">
        <p14:creationId xmlns:p14="http://schemas.microsoft.com/office/powerpoint/2010/main" val="2514841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791E-8693-5FA9-83B4-8A6210746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Business 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9E720-5767-2549-51E7-192FDCCB7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Insights on employee distribution, salaries, qualifications, leaves, and payroll expenses support workforce planning and budgeting.</a:t>
            </a:r>
          </a:p>
          <a:p>
            <a:r>
              <a:rPr lang="en-IN" dirty="0"/>
              <a:t>The Finance Department has the highest number of employees, indicating a larger workforce requirement.</a:t>
            </a:r>
          </a:p>
          <a:p>
            <a:r>
              <a:rPr lang="en-IN" dirty="0"/>
              <a:t> The IT Department has the highest average salary, reflecting the demand for specialized technical skills. </a:t>
            </a:r>
          </a:p>
          <a:p>
            <a:r>
              <a:rPr lang="en-IN" dirty="0"/>
              <a:t>Employee qualification and payroll analysis help management make better decisions regarding workforce planning and budget allocation.</a:t>
            </a:r>
          </a:p>
        </p:txBody>
      </p:sp>
    </p:spTree>
    <p:extLst>
      <p:ext uri="{BB962C8B-B14F-4D97-AF65-F5344CB8AC3E}">
        <p14:creationId xmlns:p14="http://schemas.microsoft.com/office/powerpoint/2010/main" val="4201456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A008-961B-1A04-F69A-35B4D484F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4189"/>
            <a:ext cx="10515600" cy="85649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Recommendation :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D7CC9-FA95-D569-CB9A-147FC5DA0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526" y="834190"/>
            <a:ext cx="10515600" cy="3625516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endParaRPr lang="en-IN" b="1" dirty="0"/>
          </a:p>
          <a:p>
            <a:r>
              <a:rPr lang="en-IN" sz="3600" dirty="0"/>
              <a:t>Improve data accuracy by regularly updating employee records. </a:t>
            </a:r>
          </a:p>
          <a:p>
            <a:r>
              <a:rPr lang="en-IN" sz="3600" dirty="0"/>
              <a:t>Automate employee and payroll management to save time. </a:t>
            </a:r>
          </a:p>
          <a:p>
            <a:r>
              <a:rPr lang="en-IN" sz="3600" dirty="0"/>
              <a:t>Use the system for better tracking of employee performance and attendance.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2917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A3DA-8B52-5795-5FB7-9F4B63950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Conclusion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644A5-9FEC-C15C-F383-31C115F82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z="3200" dirty="0"/>
              <a:t>The Employee Management System provides an efficient way to manage employee records, payroll, qualifications, and leave details in a centralized database. It improves data accuracy, reduces manual work, and helps organizations make better workforce and payroll management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5866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156110" y="3193845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697</Words>
  <Application>Microsoft Office PowerPoint</Application>
  <PresentationFormat>Widescreen</PresentationFormat>
  <Paragraphs>70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Lato Black</vt:lpstr>
      <vt:lpstr>Libre Baskerville</vt:lpstr>
      <vt:lpstr>Calibri</vt:lpstr>
      <vt:lpstr>Office Theme</vt:lpstr>
      <vt:lpstr>PowerPoint Presentation</vt:lpstr>
      <vt:lpstr>PowerPoint Presentation</vt:lpstr>
      <vt:lpstr>Agenda :</vt:lpstr>
      <vt:lpstr>Business Problem</vt:lpstr>
      <vt:lpstr>Problem Statement</vt:lpstr>
      <vt:lpstr>Introduction</vt:lpstr>
      <vt:lpstr>Objective of the Project</vt:lpstr>
      <vt:lpstr>Table Overview</vt:lpstr>
      <vt:lpstr>ER Diagram</vt:lpstr>
      <vt:lpstr>Which departments have the highest number of employees? </vt:lpstr>
      <vt:lpstr>What is the average salary per department? </vt:lpstr>
      <vt:lpstr>How many Different job roles in each department. </vt:lpstr>
      <vt:lpstr>How many employees have at least one qualification listed?</vt:lpstr>
      <vt:lpstr>Average bonus per department. </vt:lpstr>
      <vt:lpstr>What is the total monthly payroll processed</vt:lpstr>
      <vt:lpstr>Average leave days per department. </vt:lpstr>
      <vt:lpstr>Business Key Insights</vt:lpstr>
      <vt:lpstr>Recommendation : 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Asad Syed</cp:lastModifiedBy>
  <cp:revision>5</cp:revision>
  <dcterms:created xsi:type="dcterms:W3CDTF">2021-02-16T05:19:01Z</dcterms:created>
  <dcterms:modified xsi:type="dcterms:W3CDTF">2026-06-20T11:02:02Z</dcterms:modified>
</cp:coreProperties>
</file>